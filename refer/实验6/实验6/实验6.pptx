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1337" r:id="rId2"/>
    <p:sldId id="1724" r:id="rId3"/>
    <p:sldId id="1713" r:id="rId4"/>
    <p:sldId id="1705" r:id="rId5"/>
    <p:sldId id="1725" r:id="rId6"/>
    <p:sldId id="1726" r:id="rId7"/>
    <p:sldId id="1727" r:id="rId8"/>
    <p:sldId id="1728" r:id="rId9"/>
    <p:sldId id="1729" r:id="rId10"/>
    <p:sldId id="1685" r:id="rId11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algn="l" defTabSz="1217295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1pPr>
    <a:lvl2pPr marL="609600" indent="-152400" algn="l" defTabSz="1217295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2pPr>
    <a:lvl3pPr marL="1219200" indent="-304800" algn="l" defTabSz="1217295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3pPr>
    <a:lvl4pPr marL="1828800" indent="-457200" algn="l" defTabSz="1217295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4pPr>
    <a:lvl5pPr marL="2438400" indent="-609600" algn="l" defTabSz="1217295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微软雅黑" panose="020B0503020204020204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770" userDrawn="1">
          <p15:clr>
            <a:srgbClr val="A4A3A4"/>
          </p15:clr>
        </p15:guide>
        <p15:guide id="2" orient="horz" pos="2555" userDrawn="1">
          <p15:clr>
            <a:srgbClr val="A4A3A4"/>
          </p15:clr>
        </p15:guide>
        <p15:guide id="3" pos="2382" userDrawn="1">
          <p15:clr>
            <a:srgbClr val="A4A3A4"/>
          </p15:clr>
        </p15:guide>
        <p15:guide id="4" pos="30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Y" initials="J" lastIdx="18" clrIdx="0"/>
  <p:cmAuthor id="1" name="Microsoft Office User" initials="MOU" lastIdx="3" clrIdx="1"/>
  <p:cmAuthor id="2" name="lenovo" initials="l" lastIdx="0" clrIdx="2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1B8"/>
    <a:srgbClr val="2E70CD"/>
    <a:srgbClr val="1659A2"/>
    <a:srgbClr val="3C89C0"/>
    <a:srgbClr val="F27732"/>
    <a:srgbClr val="F3E1F9"/>
    <a:srgbClr val="003399"/>
    <a:srgbClr val="038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0" autoAdjust="0"/>
    <p:restoredTop sz="93784" autoAdjust="0"/>
  </p:normalViewPr>
  <p:slideViewPr>
    <p:cSldViewPr showGuides="1">
      <p:cViewPr>
        <p:scale>
          <a:sx n="93" d="100"/>
          <a:sy n="93" d="100"/>
        </p:scale>
        <p:origin x="840" y="44"/>
      </p:cViewPr>
      <p:guideLst>
        <p:guide orient="horz" pos="1770"/>
        <p:guide orient="horz" pos="2555"/>
        <p:guide pos="2382"/>
        <p:guide pos="300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91F5F10-1F29-4E48-BD47-06CC66441683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1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345D904-670F-43D9-BF4A-5DEFDFB0716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71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B0F4BE20-4F28-4C5C-87F0-8C78B35444B3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1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2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9286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3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4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5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1490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6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934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7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374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8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80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9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0624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46EDDEC-9C88-4E06-A2B2-856163466A44}" type="slidenum">
              <a:rPr lang="zh-CN" altLang="en-US">
                <a:solidFill>
                  <a:srgbClr val="000000"/>
                </a:solidFill>
                <a:cs typeface="微软雅黑" panose="020B0503020204020204" charset="-122"/>
              </a:rPr>
              <a:t>10</a:t>
            </a:fld>
            <a:endParaRPr lang="en-US" altLang="zh-CN">
              <a:solidFill>
                <a:srgbClr val="000000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11"/>
          <p:cNvCxnSpPr/>
          <p:nvPr/>
        </p:nvCxnSpPr>
        <p:spPr>
          <a:xfrm flipV="1">
            <a:off x="952649" y="727867"/>
            <a:ext cx="7860544" cy="0"/>
          </a:xfrm>
          <a:prstGeom prst="line">
            <a:avLst/>
          </a:prstGeom>
          <a:ln w="15875" cmpd="sng">
            <a:solidFill>
              <a:srgbClr val="002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组合 13"/>
          <p:cNvGrpSpPr/>
          <p:nvPr/>
        </p:nvGrpSpPr>
        <p:grpSpPr bwMode="auto">
          <a:xfrm>
            <a:off x="297180" y="270510"/>
            <a:ext cx="494665" cy="481965"/>
            <a:chOff x="406574" y="236732"/>
            <a:chExt cx="612048" cy="593261"/>
          </a:xfrm>
        </p:grpSpPr>
        <p:sp>
          <p:nvSpPr>
            <p:cNvPr id="5" name="矩形 14"/>
            <p:cNvSpPr/>
            <p:nvPr userDrawn="1"/>
          </p:nvSpPr>
          <p:spPr>
            <a:xfrm>
              <a:off x="406574" y="236732"/>
              <a:ext cx="503607" cy="503914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/>
            </a:p>
          </p:txBody>
        </p:sp>
        <p:sp>
          <p:nvSpPr>
            <p:cNvPr id="6" name="矩形 15"/>
            <p:cNvSpPr/>
            <p:nvPr userDrawn="1"/>
          </p:nvSpPr>
          <p:spPr>
            <a:xfrm>
              <a:off x="695137" y="511919"/>
              <a:ext cx="323485" cy="31807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7000" y="213166"/>
            <a:ext cx="5897426" cy="440696"/>
          </a:xfrm>
        </p:spPr>
        <p:txBody>
          <a:bodyPr lIns="91438" tIns="45719" rIns="91438" bIns="45719" rtlCol="0">
            <a:noAutofit/>
          </a:bodyPr>
          <a:lstStyle>
            <a:lvl1pPr algn="l">
              <a:defRPr lang="zh-CN" altLang="en-US" sz="2900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96644-A037-44EE-B39A-57961FA8339C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688" y="6388505"/>
            <a:ext cx="2894862" cy="36505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452096" y="6383743"/>
            <a:ext cx="1224154" cy="406325"/>
          </a:xfrm>
        </p:spPr>
        <p:txBody>
          <a:bodyPr/>
          <a:lstStyle>
            <a:lvl1pPr algn="ctr">
              <a:defRPr sz="1900"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5DDB59E8-A1AA-460A-9504-D45779F094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71" y="6363110"/>
            <a:ext cx="2133933" cy="36505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4219F-34E4-4456-9248-3D5239BA2016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86582" y="6363110"/>
            <a:ext cx="2896053" cy="365057"/>
          </a:xfrm>
        </p:spPr>
        <p:txBody>
          <a:bodyPr lIns="102155" tIns="51077" rIns="102155" bIns="51077"/>
          <a:lstStyle>
            <a:lvl1pPr>
              <a:defRPr lang="en-US" altLang="zh-CN">
                <a:solidFill>
                  <a:prstClr val="white">
                    <a:lumMod val="65000"/>
                  </a:prstClr>
                </a:solidFill>
                <a:latin typeface="Calibri" panose="020F0502020204030204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948383" y="6351999"/>
            <a:ext cx="1388486" cy="376168"/>
          </a:xfrm>
        </p:spPr>
        <p:txBody>
          <a:bodyPr/>
          <a:lstStyle>
            <a:lvl1pPr algn="r">
              <a:defRPr lang="zh-CN" altLang="en-US"/>
            </a:lvl1pPr>
          </a:lstStyle>
          <a:p>
            <a:pPr>
              <a:defRPr/>
            </a:pPr>
            <a:fld id="{115D452A-E5B2-42FE-B720-AE65FA1069C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9EC2E3C2-413A-4FED-A662-B080C6BBFC17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B432B679-1009-4C66-AE3B-CD9C305A1D5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805" y="116633"/>
            <a:ext cx="756084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386" y="307836"/>
            <a:ext cx="7886700" cy="558796"/>
          </a:xfrm>
        </p:spPr>
        <p:txBody>
          <a:bodyPr anchor="b">
            <a:noAutofit/>
          </a:bodyPr>
          <a:lstStyle>
            <a:lvl1pPr>
              <a:defRPr sz="3000"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717806" y="1773110"/>
            <a:ext cx="7886700" cy="41217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cxnSp>
        <p:nvCxnSpPr>
          <p:cNvPr id="7" name="直接连接符 11"/>
          <p:cNvCxnSpPr/>
          <p:nvPr userDrawn="1"/>
        </p:nvCxnSpPr>
        <p:spPr>
          <a:xfrm>
            <a:off x="717806" y="919365"/>
            <a:ext cx="8069981" cy="0"/>
          </a:xfrm>
          <a:prstGeom prst="line">
            <a:avLst/>
          </a:prstGeom>
          <a:ln w="15875" cmpd="sng">
            <a:solidFill>
              <a:srgbClr val="002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组合 13"/>
          <p:cNvGrpSpPr/>
          <p:nvPr userDrawn="1"/>
        </p:nvGrpSpPr>
        <p:grpSpPr bwMode="auto">
          <a:xfrm>
            <a:off x="226205" y="462012"/>
            <a:ext cx="370999" cy="481965"/>
            <a:chOff x="406574" y="236732"/>
            <a:chExt cx="612048" cy="593261"/>
          </a:xfrm>
        </p:grpSpPr>
        <p:sp>
          <p:nvSpPr>
            <p:cNvPr id="9" name="矩形 14"/>
            <p:cNvSpPr/>
            <p:nvPr userDrawn="1"/>
          </p:nvSpPr>
          <p:spPr>
            <a:xfrm>
              <a:off x="406574" y="236732"/>
              <a:ext cx="503607" cy="503914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ea typeface="仿宋" panose="02010609060101010101" pitchFamily="49" charset="-122"/>
              </a:endParaRPr>
            </a:p>
          </p:txBody>
        </p:sp>
        <p:sp>
          <p:nvSpPr>
            <p:cNvPr id="10" name="矩形 15"/>
            <p:cNvSpPr/>
            <p:nvPr userDrawn="1"/>
          </p:nvSpPr>
          <p:spPr>
            <a:xfrm>
              <a:off x="695137" y="511919"/>
              <a:ext cx="323485" cy="31807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ea typeface="仿宋" panose="02010609060101010101" pitchFamily="49" charset="-122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DA26-33D4-4CC3-B07A-CB0BFCDB8C23}" type="datetime1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D79CC-5E76-4369-93D5-3CC8093EB5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F426E3-6D46-4742-A810-7AF8B900532C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3E16A7-7002-4CF5-AD33-FBE8ED8B83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71" y="274587"/>
            <a:ext cx="8229696" cy="1142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6205" tIns="68100" rIns="136205" bIns="6810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71" y="1599904"/>
            <a:ext cx="8229696" cy="452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6205" tIns="68100" rIns="136205" bIns="681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71" y="6356761"/>
            <a:ext cx="2133933" cy="365057"/>
          </a:xfrm>
          <a:prstGeom prst="rect">
            <a:avLst/>
          </a:prstGeom>
        </p:spPr>
        <p:txBody>
          <a:bodyPr vert="horz" lIns="136205" tIns="68100" rIns="136205" bIns="68100" rtlCol="0" anchor="ctr"/>
          <a:lstStyle>
            <a:lvl1pPr algn="l" defTabSz="1218565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0F426E3-6D46-4742-A810-7AF8B900532C}" type="datetimeFigureOut">
              <a:rPr lang="zh-CN" altLang="en-US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688" y="6356761"/>
            <a:ext cx="2894862" cy="365057"/>
          </a:xfrm>
          <a:prstGeom prst="rect">
            <a:avLst/>
          </a:prstGeom>
        </p:spPr>
        <p:txBody>
          <a:bodyPr vert="horz" lIns="136205" tIns="68100" rIns="136205" bIns="68100" rtlCol="0" anchor="ctr"/>
          <a:lstStyle>
            <a:lvl1pPr algn="ctr" defTabSz="1218565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034" y="6356761"/>
            <a:ext cx="2133933" cy="365057"/>
          </a:xfrm>
          <a:prstGeom prst="rect">
            <a:avLst/>
          </a:prstGeom>
        </p:spPr>
        <p:txBody>
          <a:bodyPr vert="horz" lIns="136205" tIns="68100" rIns="136205" bIns="68100" rtlCol="0" anchor="ctr"/>
          <a:lstStyle>
            <a:lvl1pPr algn="r" defTabSz="1218565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43E16A7-7002-4CF5-AD33-FBE8ED8B834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ll/>
  </p:transition>
  <p:txStyles>
    <p:titleStyle>
      <a:lvl1pPr algn="ctr" defTabSz="1363345" rtl="0" eaLnBrk="0" fontAlgn="base" hangingPunct="0">
        <a:spcBef>
          <a:spcPct val="0"/>
        </a:spcBef>
        <a:spcAft>
          <a:spcPct val="0"/>
        </a:spcAft>
        <a:defRPr sz="67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defTabSz="1363345" rtl="0" eaLnBrk="0" fontAlgn="base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defTabSz="1363345" rtl="0" eaLnBrk="0" fontAlgn="base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defTabSz="1363345" rtl="0" eaLnBrk="0" fontAlgn="base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defTabSz="1363345" rtl="0" eaLnBrk="0" fontAlgn="base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defTabSz="1363345" rtl="0" fontAlgn="base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defTabSz="1363345" rtl="0" fontAlgn="base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defTabSz="1363345" rtl="0" fontAlgn="base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defTabSz="1363345" rtl="0" fontAlgn="base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511175" indent="-511175" algn="l" defTabSz="13633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1108075" indent="-425450" algn="l" defTabSz="13633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1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704975" indent="-339725" algn="l" defTabSz="13633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2386965" indent="-339725" algn="l" defTabSz="13633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3068320" indent="-339725" algn="l" defTabSz="13633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31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3750945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43357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11556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5796915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199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4615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4597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2796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0995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92575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74565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55920" algn="l" defTabSz="136398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/>
          <p:cNvSpPr/>
          <p:nvPr/>
        </p:nvSpPr>
        <p:spPr>
          <a:xfrm>
            <a:off x="-737130" y="2245179"/>
            <a:ext cx="9644130" cy="2214578"/>
          </a:xfrm>
          <a:prstGeom prst="parallelogram">
            <a:avLst/>
          </a:prstGeom>
          <a:solidFill>
            <a:srgbClr val="7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/>
          <p:cNvSpPr/>
          <p:nvPr/>
        </p:nvSpPr>
        <p:spPr>
          <a:xfrm>
            <a:off x="-656168" y="1826075"/>
            <a:ext cx="9286940" cy="2286016"/>
          </a:xfrm>
          <a:prstGeom prst="parallelogram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0" name="Text Box 4"/>
          <p:cNvSpPr txBox="1"/>
          <p:nvPr/>
        </p:nvSpPr>
        <p:spPr>
          <a:xfrm>
            <a:off x="1763264" y="4581150"/>
            <a:ext cx="5501177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Pct val="100000"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2026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春</a:t>
            </a:r>
          </a:p>
          <a:p>
            <a:pPr marL="0" lvl="0" indent="0" algn="ctr">
              <a:spcBef>
                <a:spcPct val="0"/>
              </a:spcBef>
              <a:buClrTx/>
              <a:buSzPct val="100000"/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哈尔滨工业大学（深圳）</a:t>
            </a:r>
          </a:p>
          <a:p>
            <a:pPr marL="0" lvl="0" indent="0" algn="ctr">
              <a:spcBef>
                <a:spcPct val="0"/>
              </a:spcBef>
              <a:buClrTx/>
              <a:buSzPct val="100000"/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50056" y="2030234"/>
            <a:ext cx="3262432" cy="181588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eaLnBrk="1" hangingPunct="1"/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软件构造实践</a:t>
            </a:r>
          </a:p>
          <a:p>
            <a:pPr algn="ctr" eaLnBrk="1" hangingPunct="1"/>
            <a:endParaRPr lang="zh-CN" altLang="en-US" sz="40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  <a:p>
            <a:pPr algn="ctr" eaLnBrk="1" hangingPunct="1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实验六</a:t>
            </a:r>
            <a:endParaRPr lang="zh-CN" altLang="zh-CN" sz="3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6" name="图片 5" descr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82" y="142852"/>
            <a:ext cx="1857388" cy="378964"/>
          </a:xfrm>
          <a:prstGeom prst="rect">
            <a:avLst/>
          </a:prstGeom>
        </p:spPr>
      </p:pic>
      <p:pic>
        <p:nvPicPr>
          <p:cNvPr id="12293" name="图片 8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8A1025"/>
              </a:clrFrom>
              <a:clrTo>
                <a:srgbClr val="8A1025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73445" y="0"/>
            <a:ext cx="3170555" cy="798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2435" y="0"/>
            <a:ext cx="4476750" cy="798195"/>
          </a:xfrm>
          <a:prstGeom prst="rect">
            <a:avLst/>
          </a:prstGeom>
        </p:spPr>
      </p:pic>
      <p:pic>
        <p:nvPicPr>
          <p:cNvPr id="2" name="图片 8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8A1025"/>
              </a:clrFrom>
              <a:clrTo>
                <a:srgbClr val="8A1025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73445" y="0"/>
            <a:ext cx="3170555" cy="798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2435" y="0"/>
            <a:ext cx="4476750" cy="7981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实验目的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941688" y="1052736"/>
            <a:ext cx="7590752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ea typeface="+mn-ea"/>
                <a:sym typeface="+mn-ea"/>
              </a:rPr>
              <a:t>掌握</a:t>
            </a:r>
            <a:r>
              <a:rPr lang="en-US" altLang="zh-CN" dirty="0">
                <a:latin typeface="+mn-ea"/>
                <a:ea typeface="+mn-ea"/>
                <a:sym typeface="+mn-ea"/>
              </a:rPr>
              <a:t>Android</a:t>
            </a:r>
            <a:r>
              <a:rPr lang="zh-CN" altLang="en-US" dirty="0">
                <a:latin typeface="+mn-ea"/>
                <a:ea typeface="+mn-ea"/>
                <a:sym typeface="+mn-ea"/>
              </a:rPr>
              <a:t>网络开发、线程通信的实现方法</a:t>
            </a:r>
            <a:endParaRPr lang="en-US" altLang="zh-CN" dirty="0">
              <a:latin typeface="+mn-ea"/>
              <a:ea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ea typeface="+mn-ea"/>
                <a:sym typeface="+mn-ea"/>
              </a:rPr>
              <a:t>锻炼需求分析、技术选型、方案设计的能力</a:t>
            </a:r>
            <a:endParaRPr lang="en-US" altLang="zh-CN" dirty="0">
              <a:latin typeface="+mn-ea"/>
              <a:ea typeface="+mn-ea"/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232275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实验内容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115616" y="980728"/>
            <a:ext cx="6552768" cy="21968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dirty="0">
                <a:latin typeface="+mn-ea"/>
                <a:ea typeface="+mn-ea"/>
                <a:sym typeface="+mn-ea"/>
              </a:rPr>
              <a:t>网络功能开发</a:t>
            </a:r>
            <a:endParaRPr lang="en-US" altLang="zh-CN" dirty="0">
              <a:latin typeface="+mn-ea"/>
              <a:ea typeface="+mn-ea"/>
              <a:sym typeface="+mn-ea"/>
            </a:endParaRP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  <a:ea typeface="+mn-ea"/>
                <a:sym typeface="+mn-ea"/>
              </a:rPr>
              <a:t>联机对战，实时同步得分</a:t>
            </a:r>
            <a:endParaRPr lang="en-US" altLang="zh-CN" dirty="0">
              <a:latin typeface="+mn-ea"/>
              <a:ea typeface="+mn-ea"/>
              <a:sym typeface="+mn-ea"/>
            </a:endParaRP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  <a:ea typeface="+mn-ea"/>
                <a:sym typeface="+mn-ea"/>
              </a:rPr>
              <a:t>其他网络功能开发（选做）</a:t>
            </a:r>
            <a:endParaRPr lang="en-US" altLang="zh-CN" dirty="0">
              <a:latin typeface="+mn-ea"/>
              <a:ea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联机对战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989602" y="980728"/>
            <a:ext cx="7056784" cy="2438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+mn-ea"/>
                <a:ea typeface="+mn-ea"/>
              </a:rPr>
              <a:t>功能需求</a:t>
            </a:r>
            <a:endParaRPr lang="en-US" altLang="zh-CN" b="1" dirty="0">
              <a:latin typeface="+mn-ea"/>
              <a:ea typeface="+mn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</a:rPr>
              <a:t>在联机模式下，两名玩家可建立对战连接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对战结束前，任意一方分数发生变化时，另一方能实时看到更新后的分数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两方都死亡，则对战结束，双方页面同步展示最终分数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DE1D82-AFC7-47D4-8388-181C3ACE7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36" y="3565804"/>
            <a:ext cx="1535818" cy="3071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106BD4-C2AD-4EA8-8EBB-92B00AED68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0582" y="3573016"/>
            <a:ext cx="1525713" cy="30716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560CDD7-B5A7-45D2-BED0-A3FAD7A01467}"/>
              </a:ext>
            </a:extLst>
          </p:cNvPr>
          <p:cNvSpPr txBox="1"/>
          <p:nvPr/>
        </p:nvSpPr>
        <p:spPr>
          <a:xfrm>
            <a:off x="1577480" y="4620708"/>
            <a:ext cx="983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4E81B8"/>
                </a:solidFill>
              </a:rPr>
              <a:t>玩家</a:t>
            </a:r>
            <a:r>
              <a:rPr lang="en-US" altLang="zh-CN" b="1" dirty="0">
                <a:solidFill>
                  <a:srgbClr val="4E81B8"/>
                </a:solidFill>
              </a:rPr>
              <a:t>1</a:t>
            </a:r>
            <a:endParaRPr lang="zh-CN" altLang="en-US" b="1" dirty="0">
              <a:solidFill>
                <a:srgbClr val="4E81B8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D911EB-072A-4063-9118-BF723C46BB88}"/>
              </a:ext>
            </a:extLst>
          </p:cNvPr>
          <p:cNvSpPr txBox="1"/>
          <p:nvPr/>
        </p:nvSpPr>
        <p:spPr>
          <a:xfrm>
            <a:off x="4674091" y="4620708"/>
            <a:ext cx="983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4E81B8"/>
                </a:solidFill>
              </a:rPr>
              <a:t>玩家</a:t>
            </a:r>
            <a:r>
              <a:rPr lang="en-US" altLang="zh-CN" b="1" dirty="0">
                <a:solidFill>
                  <a:srgbClr val="4E81B8"/>
                </a:solidFill>
              </a:rPr>
              <a:t>2</a:t>
            </a:r>
            <a:endParaRPr lang="zh-CN" altLang="en-US" b="1" dirty="0">
              <a:solidFill>
                <a:srgbClr val="4E81B8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创建</a:t>
            </a:r>
            <a:r>
              <a:rPr lang="en-US" altLang="zh-CN" b="1" dirty="0">
                <a:solidFill>
                  <a:schemeClr val="tx1"/>
                </a:solidFill>
                <a:cs typeface="+mj-cs"/>
              </a:rPr>
              <a:t>Http</a:t>
            </a:r>
            <a:r>
              <a:rPr lang="zh-CN" altLang="en-US" b="1" dirty="0" smtClean="0">
                <a:solidFill>
                  <a:schemeClr val="tx1"/>
                </a:solidFill>
                <a:cs typeface="+mj-cs"/>
              </a:rPr>
              <a:t>服务器</a:t>
            </a:r>
            <a:endParaRPr lang="zh-CN" altLang="en-US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989602" y="980728"/>
            <a:ext cx="7056784" cy="96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在</a:t>
            </a:r>
            <a:r>
              <a:rPr lang="en-US" altLang="zh-CN" sz="2000" dirty="0"/>
              <a:t>Android Studio</a:t>
            </a:r>
            <a:r>
              <a:rPr lang="zh-CN" altLang="en-US" sz="2000" dirty="0"/>
              <a:t>中创建</a:t>
            </a:r>
            <a:r>
              <a:rPr lang="en-US" altLang="zh-CN" sz="2000" dirty="0"/>
              <a:t>No Activity</a:t>
            </a:r>
            <a:r>
              <a:rPr lang="zh-CN" altLang="en-US" sz="2000" dirty="0"/>
              <a:t>类型的项目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在项目中创建</a:t>
            </a:r>
            <a:r>
              <a:rPr lang="en-US" altLang="zh-CN" sz="2000" dirty="0"/>
              <a:t>Java Module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05CEF5-5FAC-4D1A-B68A-F0D403F70A0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6" y="3497922"/>
            <a:ext cx="3096000" cy="1224000"/>
          </a:xfrm>
          <a:prstGeom prst="rect">
            <a:avLst/>
          </a:prstGeom>
          <a:ln w="9525">
            <a:solidFill>
              <a:srgbClr val="3C89C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9DD3B5-8B45-455C-ACBB-C3F5E31B8D96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" b="34937"/>
          <a:stretch/>
        </p:blipFill>
        <p:spPr>
          <a:xfrm>
            <a:off x="1147486" y="4779478"/>
            <a:ext cx="3096000" cy="1224000"/>
          </a:xfrm>
          <a:prstGeom prst="rect">
            <a:avLst/>
          </a:prstGeom>
          <a:ln w="9525">
            <a:solidFill>
              <a:srgbClr val="3C89C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EA8CBF-E995-4671-80D2-E7F507E6143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00"/>
          <a:stretch/>
        </p:blipFill>
        <p:spPr>
          <a:xfrm>
            <a:off x="5100081" y="2708920"/>
            <a:ext cx="3477006" cy="2505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8AB0C5E-3C0D-4DAB-8E68-B1D3DF1F39FB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99"/>
          <a:stretch/>
        </p:blipFill>
        <p:spPr>
          <a:xfrm>
            <a:off x="1147486" y="2216366"/>
            <a:ext cx="3096000" cy="1224000"/>
          </a:xfrm>
          <a:prstGeom prst="rect">
            <a:avLst/>
          </a:prstGeom>
          <a:ln w="9525">
            <a:solidFill>
              <a:srgbClr val="3C89C0"/>
            </a:solidFill>
          </a:ln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6566E4CE-D378-4F01-B2CC-708D59256E3E}"/>
              </a:ext>
            </a:extLst>
          </p:cNvPr>
          <p:cNvSpPr/>
          <p:nvPr/>
        </p:nvSpPr>
        <p:spPr>
          <a:xfrm>
            <a:off x="4343268" y="3673666"/>
            <a:ext cx="657030" cy="288032"/>
          </a:xfrm>
          <a:prstGeom prst="rightArrow">
            <a:avLst/>
          </a:prstGeom>
          <a:solidFill>
            <a:srgbClr val="1659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7939B2-A287-4535-A655-765F06478F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976" y="3886053"/>
            <a:ext cx="409632" cy="4477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F94D04-EC95-4CC3-B822-6E8D888133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734" y="5215903"/>
            <a:ext cx="390580" cy="34294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F918F18-C5B0-4E9C-9485-313543A8F6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261" y="2640874"/>
            <a:ext cx="371527" cy="3334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8840338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DA53985-A3D1-463B-BF15-EB71BB22AC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17"/>
          <a:stretch/>
        </p:blipFill>
        <p:spPr>
          <a:xfrm>
            <a:off x="251520" y="1469485"/>
            <a:ext cx="4462657" cy="5256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创建</a:t>
            </a:r>
            <a:r>
              <a:rPr lang="en-US" altLang="zh-CN" b="1" dirty="0">
                <a:solidFill>
                  <a:schemeClr val="tx1"/>
                </a:solidFill>
                <a:cs typeface="+mj-cs"/>
              </a:rPr>
              <a:t>Http</a:t>
            </a:r>
            <a:r>
              <a:rPr lang="zh-CN" altLang="en-US" b="1" dirty="0" smtClean="0">
                <a:solidFill>
                  <a:schemeClr val="tx1"/>
                </a:solidFill>
                <a:cs typeface="+mj-cs"/>
              </a:rPr>
              <a:t>服务器</a:t>
            </a:r>
            <a:endParaRPr lang="zh-CN" altLang="en-US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941688" y="864135"/>
            <a:ext cx="4825831" cy="499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调用</a:t>
            </a:r>
            <a:r>
              <a:rPr lang="en-US" altLang="zh-CN" sz="2000" dirty="0" err="1"/>
              <a:t>HttpServer</a:t>
            </a:r>
            <a:r>
              <a:rPr lang="en-US" altLang="zh-CN" sz="2000" dirty="0"/>
              <a:t> API</a:t>
            </a:r>
            <a:r>
              <a:rPr lang="zh-CN" altLang="en-US" sz="2000" dirty="0"/>
              <a:t>开发服务器代码</a:t>
            </a:r>
            <a:endParaRPr lang="en-US" altLang="zh-CN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00407C-87ED-46D2-BD93-02C018030FEA}"/>
              </a:ext>
            </a:extLst>
          </p:cNvPr>
          <p:cNvSpPr/>
          <p:nvPr/>
        </p:nvSpPr>
        <p:spPr>
          <a:xfrm>
            <a:off x="4821681" y="1599992"/>
            <a:ext cx="4322319" cy="4025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1. 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创建</a:t>
            </a:r>
            <a:r>
              <a:rPr lang="en-US" altLang="zh-CN" sz="1800" dirty="0" err="1">
                <a:latin typeface="+mn-ea"/>
                <a:ea typeface="+mn-ea"/>
                <a:cs typeface="+mn-ea"/>
                <a:sym typeface="+mn-lt"/>
              </a:rPr>
              <a:t>HttpServer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实例，绑定端口；</a:t>
            </a: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6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2. 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注册请求处理器，客户端请求特定</a:t>
            </a: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URL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时触发相应的处理逻辑；</a:t>
            </a: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6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3. 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启动服务器；</a:t>
            </a: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6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4. 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自定义处理器，实现</a:t>
            </a:r>
            <a:r>
              <a:rPr lang="en-US" altLang="zh-CN" sz="1800" dirty="0" err="1">
                <a:latin typeface="+mn-ea"/>
                <a:ea typeface="+mn-ea"/>
                <a:cs typeface="+mn-ea"/>
                <a:sym typeface="+mn-lt"/>
              </a:rPr>
              <a:t>HttpHandler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接口</a:t>
            </a: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6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5. 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重写</a:t>
            </a:r>
            <a:r>
              <a:rPr lang="en-US" altLang="zh-CN" sz="1800" dirty="0">
                <a:latin typeface="+mn-ea"/>
                <a:ea typeface="+mn-ea"/>
                <a:cs typeface="+mn-ea"/>
                <a:sym typeface="+mn-lt"/>
              </a:rPr>
              <a:t>handle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方法，参数</a:t>
            </a:r>
            <a:r>
              <a:rPr lang="en-US" altLang="zh-CN" sz="1800" dirty="0" err="1">
                <a:latin typeface="+mn-ea"/>
                <a:ea typeface="+mn-ea"/>
                <a:cs typeface="+mn-ea"/>
                <a:sym typeface="+mn-lt"/>
              </a:rPr>
              <a:t>HttpExchange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lt"/>
              </a:rPr>
              <a:t>封装了请求信息和响应工具，通过它完成和客户端的交互。</a:t>
            </a: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  <a:p>
            <a:pPr marL="457200" indent="-457200">
              <a:lnSpc>
                <a:spcPct val="160000"/>
              </a:lnSpc>
              <a:buFont typeface="+mj-ea"/>
              <a:buAutoNum type="circleNumDbPlain"/>
            </a:pPr>
            <a:endParaRPr lang="en-US" altLang="zh-CN" sz="1800" dirty="0">
              <a:latin typeface="+mn-ea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1816461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cs typeface="+mj-cs"/>
              </a:rPr>
              <a:t>Android HTTP</a:t>
            </a:r>
            <a:r>
              <a:rPr lang="zh-CN" altLang="en-US" b="1" dirty="0">
                <a:solidFill>
                  <a:schemeClr val="tx1"/>
                </a:solidFill>
                <a:cs typeface="+mj-cs"/>
              </a:rPr>
              <a:t>客户端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467544" y="864135"/>
            <a:ext cx="3692539" cy="442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在</a:t>
            </a:r>
            <a:r>
              <a:rPr lang="en-US" altLang="zh-CN" sz="2000" dirty="0"/>
              <a:t>AndroidManifest.xml</a:t>
            </a:r>
            <a:r>
              <a:rPr lang="zh-CN" altLang="en-US" sz="2000" dirty="0"/>
              <a:t>中开启</a:t>
            </a:r>
            <a:r>
              <a:rPr lang="zh-CN" altLang="en-US" sz="2000" dirty="0">
                <a:solidFill>
                  <a:schemeClr val="accent5"/>
                </a:solidFill>
              </a:rPr>
              <a:t>网络权限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chemeClr val="accent5"/>
                </a:solidFill>
              </a:rPr>
              <a:t>明文权限</a:t>
            </a: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创建</a:t>
            </a:r>
            <a:r>
              <a:rPr lang="zh-CN" altLang="en-US" sz="2000" dirty="0">
                <a:solidFill>
                  <a:schemeClr val="accent5"/>
                </a:solidFill>
              </a:rPr>
              <a:t>子线程</a:t>
            </a:r>
            <a:r>
              <a:rPr lang="zh-CN" altLang="en-US" sz="2000" dirty="0"/>
              <a:t>，调用</a:t>
            </a:r>
            <a:r>
              <a:rPr lang="en-US" altLang="zh-CN" sz="2000" dirty="0" err="1"/>
              <a:t>OkHttp</a:t>
            </a:r>
            <a:r>
              <a:rPr lang="en-US" altLang="zh-CN" sz="2000" dirty="0"/>
              <a:t> API</a:t>
            </a:r>
            <a:r>
              <a:rPr lang="zh-CN" altLang="en-US" sz="2000" dirty="0"/>
              <a:t>发起异步网络请求，</a:t>
            </a:r>
            <a:r>
              <a:rPr lang="zh-CN" altLang="en-US" sz="2000" dirty="0">
                <a:solidFill>
                  <a:schemeClr val="accent5"/>
                </a:solidFill>
              </a:rPr>
              <a:t>注意</a:t>
            </a:r>
            <a:r>
              <a:rPr lang="en-US" altLang="zh-CN" sz="2000" dirty="0">
                <a:solidFill>
                  <a:schemeClr val="accent5"/>
                </a:solidFill>
              </a:rPr>
              <a:t>IP</a:t>
            </a:r>
            <a:r>
              <a:rPr lang="zh-CN" altLang="en-US" sz="2000" dirty="0">
                <a:solidFill>
                  <a:schemeClr val="accent5"/>
                </a:solidFill>
              </a:rPr>
              <a:t>和端口号的设置</a:t>
            </a: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在回调方法中处理网络响应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测试时先启动服务器，运行服务器</a:t>
            </a:r>
            <a:r>
              <a:rPr lang="en-US" altLang="zh-CN" sz="2000" dirty="0"/>
              <a:t>main()</a:t>
            </a:r>
            <a:r>
              <a:rPr lang="zh-CN" altLang="en-US" sz="2000" dirty="0"/>
              <a:t>方法，再启动</a:t>
            </a:r>
            <a:r>
              <a:rPr lang="en-US" altLang="zh-CN" sz="2000" dirty="0"/>
              <a:t>Android</a:t>
            </a:r>
            <a:r>
              <a:rPr lang="zh-CN" altLang="en-US" sz="2000" dirty="0"/>
              <a:t>客户端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61C77F-C5E0-4801-9B10-1E339C9C3C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54"/>
          <a:stretch/>
        </p:blipFill>
        <p:spPr>
          <a:xfrm>
            <a:off x="4160083" y="864135"/>
            <a:ext cx="4978238" cy="5993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8F8FEDA-3901-4346-89C3-2262E303C7FB}"/>
              </a:ext>
            </a:extLst>
          </p:cNvPr>
          <p:cNvSpPr/>
          <p:nvPr/>
        </p:nvSpPr>
        <p:spPr>
          <a:xfrm>
            <a:off x="4283968" y="1412776"/>
            <a:ext cx="331236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916007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cs typeface="+mj-cs"/>
              </a:rPr>
              <a:t>创建</a:t>
            </a:r>
            <a:r>
              <a:rPr lang="en-US" altLang="zh-CN" b="1" dirty="0">
                <a:solidFill>
                  <a:schemeClr val="tx1"/>
                </a:solidFill>
                <a:cs typeface="+mj-cs"/>
              </a:rPr>
              <a:t>Socket</a:t>
            </a:r>
            <a:r>
              <a:rPr lang="zh-CN" altLang="en-US" b="1" dirty="0">
                <a:solidFill>
                  <a:schemeClr val="tx1"/>
                </a:solidFill>
                <a:cs typeface="+mj-cs"/>
              </a:rPr>
              <a:t>服务器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361744" y="980728"/>
            <a:ext cx="37782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新建</a:t>
            </a:r>
            <a:r>
              <a:rPr lang="en-US" altLang="zh-CN" sz="2000" dirty="0"/>
              <a:t>Android</a:t>
            </a:r>
            <a:r>
              <a:rPr lang="zh-CN" altLang="en-US" sz="2000" dirty="0"/>
              <a:t>项目，创建</a:t>
            </a:r>
            <a:r>
              <a:rPr lang="en-US" altLang="zh-CN" sz="2000" dirty="0"/>
              <a:t>Java Module</a:t>
            </a:r>
            <a:r>
              <a:rPr lang="zh-CN" altLang="en-US" sz="2000" dirty="0" smtClean="0"/>
              <a:t>，步骤参考创建</a:t>
            </a:r>
            <a:r>
              <a:rPr lang="en-US" altLang="zh-CN" sz="2000" dirty="0" err="1" smtClean="0"/>
              <a:t>HttpServer</a:t>
            </a:r>
            <a:r>
              <a:rPr lang="zh-CN" altLang="en-US" sz="2000" dirty="0" smtClean="0"/>
              <a:t>服务器过程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开发</a:t>
            </a:r>
            <a:r>
              <a:rPr lang="en-US" altLang="zh-CN" sz="2000" dirty="0"/>
              <a:t>Socket</a:t>
            </a:r>
            <a:r>
              <a:rPr lang="zh-CN" altLang="en-US" sz="2000" dirty="0"/>
              <a:t>服务器代码：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/>
              <a:t>创建</a:t>
            </a:r>
            <a:r>
              <a:rPr lang="en-US" altLang="zh-CN" sz="2000" dirty="0" err="1"/>
              <a:t>ServerSocket</a:t>
            </a:r>
            <a:r>
              <a:rPr lang="zh-CN" altLang="en-US" sz="2000" dirty="0"/>
              <a:t>，指定端口号，等待客户端连接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/>
              <a:t>客户端连接成功后，创建</a:t>
            </a:r>
            <a:r>
              <a:rPr lang="en-US" altLang="zh-CN" sz="2000" dirty="0"/>
              <a:t>Socket</a:t>
            </a:r>
            <a:r>
              <a:rPr lang="zh-CN" altLang="en-US" sz="2000" dirty="0"/>
              <a:t>对象，启动子线程和客户端通信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1CF385-90E0-44D1-83A7-4E896D2124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749491"/>
            <a:ext cx="4776116" cy="6093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496978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MH_Page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688" y="297535"/>
            <a:ext cx="5896896" cy="329854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cs typeface="+mj-cs"/>
              </a:rPr>
              <a:t>Android Socket</a:t>
            </a:r>
            <a:r>
              <a:rPr lang="zh-CN" altLang="en-US" b="1" dirty="0">
                <a:solidFill>
                  <a:schemeClr val="tx1"/>
                </a:solidFill>
                <a:cs typeface="+mj-cs"/>
              </a:rPr>
              <a:t>客户端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B5B4A1-D058-4424-935C-6AC4B5F64EA9}"/>
              </a:ext>
            </a:extLst>
          </p:cNvPr>
          <p:cNvSpPr txBox="1"/>
          <p:nvPr/>
        </p:nvSpPr>
        <p:spPr>
          <a:xfrm>
            <a:off x="467544" y="864135"/>
            <a:ext cx="3692539" cy="442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在</a:t>
            </a:r>
            <a:r>
              <a:rPr lang="en-US" altLang="zh-CN" sz="2000" dirty="0"/>
              <a:t>AndroidManifest.xml</a:t>
            </a:r>
            <a:r>
              <a:rPr lang="zh-CN" altLang="en-US" sz="2000" dirty="0"/>
              <a:t>中开启</a:t>
            </a:r>
            <a:r>
              <a:rPr lang="zh-CN" altLang="en-US" sz="2000" dirty="0">
                <a:solidFill>
                  <a:schemeClr val="accent5"/>
                </a:solidFill>
              </a:rPr>
              <a:t>网络权限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chemeClr val="accent5"/>
                </a:solidFill>
              </a:rPr>
              <a:t>明文权限</a:t>
            </a: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创建</a:t>
            </a:r>
            <a:r>
              <a:rPr lang="zh-CN" altLang="en-US" sz="2000" dirty="0">
                <a:solidFill>
                  <a:schemeClr val="accent5"/>
                </a:solidFill>
              </a:rPr>
              <a:t>子线程</a:t>
            </a:r>
            <a:r>
              <a:rPr lang="zh-CN" altLang="en-US" sz="2000" dirty="0"/>
              <a:t>，连接</a:t>
            </a:r>
            <a:r>
              <a:rPr lang="en-US" altLang="zh-CN" sz="2000" dirty="0"/>
              <a:t>Socket</a:t>
            </a:r>
            <a:r>
              <a:rPr lang="zh-CN" altLang="en-US" sz="2000" dirty="0"/>
              <a:t>服务器和发送数据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启动</a:t>
            </a:r>
            <a:r>
              <a:rPr lang="zh-CN" altLang="en-US" sz="2000" dirty="0">
                <a:solidFill>
                  <a:schemeClr val="accent5"/>
                </a:solidFill>
              </a:rPr>
              <a:t>接收线程</a:t>
            </a:r>
            <a:r>
              <a:rPr lang="zh-CN" altLang="en-US" sz="2000" dirty="0"/>
              <a:t>，持续监听服务器</a:t>
            </a:r>
            <a:endParaRPr lang="en-US" altLang="zh-CN" sz="2000" dirty="0"/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通信结束后，关闭</a:t>
            </a:r>
            <a:r>
              <a:rPr lang="en-US" altLang="zh-CN" sz="2000" dirty="0"/>
              <a:t>Socket</a:t>
            </a:r>
            <a:r>
              <a:rPr lang="zh-CN" altLang="en-US" sz="2000" dirty="0"/>
              <a:t>连接（客户端或服务器均可发起关闭）</a:t>
            </a: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08D783-7ABD-48E4-B8DA-06AD0CCD1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764704"/>
            <a:ext cx="4795586" cy="5993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9260390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00020" y="2564765"/>
            <a:ext cx="38855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>
                <a:solidFill>
                  <a:schemeClr val="accent1"/>
                </a:solidFill>
              </a:rPr>
              <a:t>同学们</a:t>
            </a:r>
          </a:p>
          <a:p>
            <a:pPr algn="ctr"/>
            <a:r>
              <a:rPr lang="zh-CN" altLang="en-US" sz="4800" b="1">
                <a:solidFill>
                  <a:schemeClr val="accent1"/>
                </a:solidFill>
              </a:rPr>
              <a:t>请开始实验吧！</a:t>
            </a:r>
          </a:p>
        </p:txBody>
      </p:sp>
    </p:spTree>
    <p:custDataLst>
      <p:tags r:id="rId1"/>
    </p:custData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eb629be6-2105-4433-ba0c-e41d4c1152be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95,&quot;left&quot;:126.3,&quot;top&quot;:105.55,&quot;width&quot;:413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95,&quot;left&quot;:126.3,&quot;top&quot;:105.55,&quot;width&quot;:413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PageTitle"/>
  <p:tag name="MH_ORDER" val="Page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0801175840"/>
  <p:tag name="MH_LIBRARY" val="GRAPHIC"/>
</p:tagLst>
</file>

<file path=ppt/theme/theme1.xml><?xml version="1.0" encoding="utf-8"?>
<a:theme xmlns:a="http://schemas.openxmlformats.org/drawingml/2006/main" name="3_Office 主题​​">
  <a:themeElements>
    <a:clrScheme name="自定义 9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70C0"/>
      </a:accent1>
      <a:accent2>
        <a:srgbClr val="A5A5A5"/>
      </a:accent2>
      <a:accent3>
        <a:srgbClr val="F69200"/>
      </a:accent3>
      <a:accent4>
        <a:srgbClr val="92D050"/>
      </a:accent4>
      <a:accent5>
        <a:srgbClr val="FF0000"/>
      </a:accent5>
      <a:accent6>
        <a:srgbClr val="C00000"/>
      </a:accent6>
      <a:hlink>
        <a:srgbClr val="0070C0"/>
      </a:hlink>
      <a:folHlink>
        <a:srgbClr val="7030A0"/>
      </a:folHlink>
    </a:clrScheme>
    <a:fontScheme name="微软雅黑和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4407</TotalTime>
  <Words>363</Words>
  <Application>Microsoft Office PowerPoint</Application>
  <PresentationFormat>全屏显示(4:3)</PresentationFormat>
  <Paragraphs>59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仿宋</vt:lpstr>
      <vt:lpstr>宋体</vt:lpstr>
      <vt:lpstr>微软雅黑</vt:lpstr>
      <vt:lpstr>Arial</vt:lpstr>
      <vt:lpstr>Calibri</vt:lpstr>
      <vt:lpstr>Impact</vt:lpstr>
      <vt:lpstr>Wingdings</vt:lpstr>
      <vt:lpstr>3_Office 主题​​</vt:lpstr>
      <vt:lpstr>PowerPoint 演示文稿</vt:lpstr>
      <vt:lpstr>实验目的</vt:lpstr>
      <vt:lpstr>实验内容</vt:lpstr>
      <vt:lpstr>联机对战</vt:lpstr>
      <vt:lpstr>创建Http服务器</vt:lpstr>
      <vt:lpstr>创建Http服务器</vt:lpstr>
      <vt:lpstr>Android HTTP客户端</vt:lpstr>
      <vt:lpstr>创建Socket服务器</vt:lpstr>
      <vt:lpstr>Android Socket客户端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creator>精美PPT</dc:creator>
  <cp:keywords>www.51pptmoban.com</cp:keywords>
  <dc:description>大侠素材铺_x000d__x000d_
淘宝店：https://dxpu.taobao.com/</dc:description>
  <cp:lastModifiedBy>yang</cp:lastModifiedBy>
  <cp:revision>1458</cp:revision>
  <dcterms:created xsi:type="dcterms:W3CDTF">2016-04-19T06:13:00Z</dcterms:created>
  <dcterms:modified xsi:type="dcterms:W3CDTF">2026-04-09T06:07:46Z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RubyTemplateID">
    <vt:lpwstr>2</vt:lpwstr>
  </property>
  <property fmtid="{D5CDD505-2E9C-101B-9397-08002B2CF9AE}" pid="4" name="ICV">
    <vt:lpwstr>F58E87D333514C41AD3773A31C402674</vt:lpwstr>
  </property>
</Properties>
</file>